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</p:sldMasterIdLst>
  <p:notesMasterIdLst>
    <p:notesMasterId r:id="rId6"/>
  </p:notesMasterIdLst>
  <p:sldIdLst>
    <p:sldId id="256" r:id="rId5"/>
  </p:sldIdLst>
  <p:sldSz cx="32918400" cy="219456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F30DB-F54D-44E0-AD7E-2946AF504673}" v="1" dt="2026-04-20T02:20:17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915" autoAdjust="0"/>
    <p:restoredTop sz="94660"/>
  </p:normalViewPr>
  <p:slideViewPr>
    <p:cSldViewPr snapToGrid="0">
      <p:cViewPr varScale="1">
        <p:scale>
          <a:sx n="40" d="100"/>
          <a:sy n="40" d="100"/>
        </p:scale>
        <p:origin x="156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Vinciguerra" userId="4d07a0ec776b02ec" providerId="LiveId" clId="{487986B9-9350-4506-BCD4-F73C988FA2D4}"/>
    <pc:docChg chg="custSel modSld">
      <pc:chgData name="Michael Vinciguerra" userId="4d07a0ec776b02ec" providerId="LiveId" clId="{487986B9-9350-4506-BCD4-F73C988FA2D4}" dt="2026-04-20T02:26:12.881" v="167" actId="20577"/>
      <pc:docMkLst>
        <pc:docMk/>
      </pc:docMkLst>
      <pc:sldChg chg="addSp modSp mod">
        <pc:chgData name="Michael Vinciguerra" userId="4d07a0ec776b02ec" providerId="LiveId" clId="{487986B9-9350-4506-BCD4-F73C988FA2D4}" dt="2026-04-20T02:26:12.881" v="167" actId="20577"/>
        <pc:sldMkLst>
          <pc:docMk/>
          <pc:sldMk cId="0" sldId="256"/>
        </pc:sldMkLst>
        <pc:spChg chg="add mod">
          <ac:chgData name="Michael Vinciguerra" userId="4d07a0ec776b02ec" providerId="LiveId" clId="{487986B9-9350-4506-BCD4-F73C988FA2D4}" dt="2026-04-20T02:22:54.731" v="163" actId="255"/>
          <ac:spMkLst>
            <pc:docMk/>
            <pc:sldMk cId="0" sldId="256"/>
            <ac:spMk id="5" creationId="{22A84C42-4326-4965-0E79-08DB64E81126}"/>
          </ac:spMkLst>
        </pc:spChg>
        <pc:spChg chg="mod">
          <ac:chgData name="Michael Vinciguerra" userId="4d07a0ec776b02ec" providerId="LiveId" clId="{487986B9-9350-4506-BCD4-F73C988FA2D4}" dt="2026-04-20T02:18:02.654" v="45" actId="20577"/>
          <ac:spMkLst>
            <pc:docMk/>
            <pc:sldMk cId="0" sldId="256"/>
            <ac:spMk id="6" creationId="{22948F70-3206-2FA8-BDD8-97066935169D}"/>
          </ac:spMkLst>
        </pc:spChg>
        <pc:spChg chg="mod">
          <ac:chgData name="Michael Vinciguerra" userId="4d07a0ec776b02ec" providerId="LiveId" clId="{487986B9-9350-4506-BCD4-F73C988FA2D4}" dt="2026-04-20T02:26:12.881" v="167" actId="20577"/>
          <ac:spMkLst>
            <pc:docMk/>
            <pc:sldMk cId="0" sldId="256"/>
            <ac:spMk id="10" creationId="{0CC81D1E-ADB8-8A10-5FCA-93172B999E59}"/>
          </ac:spMkLst>
        </pc:spChg>
        <pc:spChg chg="mod">
          <ac:chgData name="Michael Vinciguerra" userId="4d07a0ec776b02ec" providerId="LiveId" clId="{487986B9-9350-4506-BCD4-F73C988FA2D4}" dt="2026-04-20T02:24:06.628" v="165" actId="1076"/>
          <ac:spMkLst>
            <pc:docMk/>
            <pc:sldMk cId="0" sldId="256"/>
            <ac:spMk id="17" creationId="{F0C2B6C3-DDFD-DFDE-68E8-385DA865A074}"/>
          </ac:spMkLst>
        </pc:spChg>
        <pc:spChg chg="mod">
          <ac:chgData name="Michael Vinciguerra" userId="4d07a0ec776b02ec" providerId="LiveId" clId="{487986B9-9350-4506-BCD4-F73C988FA2D4}" dt="2026-04-20T02:18:54.318" v="65" actId="1076"/>
          <ac:spMkLst>
            <pc:docMk/>
            <pc:sldMk cId="0" sldId="256"/>
            <ac:spMk id="18" creationId="{6A81CA6B-EA88-6212-F859-D14BB0590684}"/>
          </ac:spMkLst>
        </pc:spChg>
        <pc:spChg chg="mod">
          <ac:chgData name="Michael Vinciguerra" userId="4d07a0ec776b02ec" providerId="LiveId" clId="{487986B9-9350-4506-BCD4-F73C988FA2D4}" dt="2026-04-20T02:22:18.199" v="153" actId="207"/>
          <ac:spMkLst>
            <pc:docMk/>
            <pc:sldMk cId="0" sldId="256"/>
            <ac:spMk id="100" creationId="{00000000-0000-0000-0000-000000000000}"/>
          </ac:spMkLst>
        </pc:spChg>
        <pc:picChg chg="mod">
          <ac:chgData name="Michael Vinciguerra" userId="4d07a0ec776b02ec" providerId="LiveId" clId="{487986B9-9350-4506-BCD4-F73C988FA2D4}" dt="2026-04-20T01:34:30.857" v="0" actId="1076"/>
          <ac:picMkLst>
            <pc:docMk/>
            <pc:sldMk cId="0" sldId="256"/>
            <ac:picMk id="67" creationId="{00000000-0000-0000-0000-000000000000}"/>
          </ac:picMkLst>
        </pc:picChg>
        <pc:picChg chg="mod">
          <ac:chgData name="Michael Vinciguerra" userId="4d07a0ec776b02ec" providerId="LiveId" clId="{487986B9-9350-4506-BCD4-F73C988FA2D4}" dt="2026-04-20T01:34:36.492" v="2" actId="1076"/>
          <ac:picMkLst>
            <pc:docMk/>
            <pc:sldMk cId="0" sldId="256"/>
            <ac:picMk id="8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79082-83B6-49A6-8202-2774F94222E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9850" y="1257300"/>
            <a:ext cx="50927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77FCF-9599-41B4-ADA9-9E4D937654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77FCF-9599-41B4-ADA9-9E4D937654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5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645560" y="2394000"/>
            <a:ext cx="296269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164556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33520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/>
          </p:nvPr>
        </p:nvSpPr>
        <p:spPr>
          <a:xfrm>
            <a:off x="164556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/>
          </p:nvPr>
        </p:nvSpPr>
        <p:spPr>
          <a:xfrm>
            <a:off x="533520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52ED4A-937C-40C6-931F-26A07C9345EB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45560" y="2394000"/>
            <a:ext cx="296269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64556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33520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164556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/>
          </p:nvPr>
        </p:nvSpPr>
        <p:spPr>
          <a:xfrm>
            <a:off x="533520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4913106B-F775-489A-96F1-5926A5E765A3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645560" y="2394000"/>
            <a:ext cx="296269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64556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33520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164556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33520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ECADEF9C-757D-44EA-96BA-E4E1F340DEE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45560" y="2394000"/>
            <a:ext cx="2962692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64556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5335200" y="512028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164556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/>
          </p:nvPr>
        </p:nvSpPr>
        <p:spPr>
          <a:xfrm>
            <a:off x="5335200" y="6912000"/>
            <a:ext cx="3513600" cy="163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45B04D0-0737-43B8-ADA7-6037E83D569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45560" y="2569320"/>
            <a:ext cx="29626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4556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920700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164556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920700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>
          <a:xfrm>
            <a:off x="11246760" y="19985400"/>
            <a:ext cx="104238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>
          <a:xfrm>
            <a:off x="235911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r" defTabSz="3135240">
              <a:lnSpc>
                <a:spcPct val="100000"/>
              </a:lnSpc>
              <a:buNone/>
              <a:tabLst>
                <a:tab pos="0" algn="l"/>
              </a:tabLst>
              <a:def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3135240">
              <a:lnSpc>
                <a:spcPct val="100000"/>
              </a:lnSpc>
              <a:buNone/>
              <a:tabLst>
                <a:tab pos="0" algn="l"/>
              </a:tabLst>
            </a:pPr>
            <a:fld id="{2D88D3BD-4C3B-48B4-ABF1-B6AC8752A228}" type="slidenum">
              <a: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endParaRPr lang="en-US" sz="4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>
          <a:xfrm>
            <a:off x="16455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45560" y="2569320"/>
            <a:ext cx="29626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4556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20700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4556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920700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6"/>
          <p:cNvSpPr>
            <a:spLocks noGrp="1"/>
          </p:cNvSpPr>
          <p:nvPr>
            <p:ph type="ftr" idx="4"/>
          </p:nvPr>
        </p:nvSpPr>
        <p:spPr>
          <a:xfrm>
            <a:off x="11246760" y="19985400"/>
            <a:ext cx="104238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1" name="PlaceHolder 7"/>
          <p:cNvSpPr>
            <a:spLocks noGrp="1"/>
          </p:cNvSpPr>
          <p:nvPr>
            <p:ph type="sldNum" idx="5"/>
          </p:nvPr>
        </p:nvSpPr>
        <p:spPr>
          <a:xfrm>
            <a:off x="235911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r" defTabSz="3135240">
              <a:lnSpc>
                <a:spcPct val="100000"/>
              </a:lnSpc>
              <a:buNone/>
              <a:tabLst>
                <a:tab pos="0" algn="l"/>
              </a:tabLst>
              <a:def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3135240">
              <a:lnSpc>
                <a:spcPct val="100000"/>
              </a:lnSpc>
              <a:buNone/>
              <a:tabLst>
                <a:tab pos="0" algn="l"/>
              </a:tabLst>
            </a:pPr>
            <a:fld id="{E6779DA4-1C0B-4853-BD3A-8F46148C0538}" type="slidenum">
              <a: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endParaRPr lang="en-US" sz="4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8"/>
          <p:cNvSpPr>
            <a:spLocks noGrp="1"/>
          </p:cNvSpPr>
          <p:nvPr>
            <p:ph type="dt" idx="6"/>
          </p:nvPr>
        </p:nvSpPr>
        <p:spPr>
          <a:xfrm>
            <a:off x="16455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645560" y="878400"/>
            <a:ext cx="29626920" cy="365688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64556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920700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164556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920700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0" rIns="0" bIns="0" numCol="1" spcCol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ftr" idx="7"/>
          </p:nvPr>
        </p:nvSpPr>
        <p:spPr>
          <a:xfrm>
            <a:off x="11246760" y="19985400"/>
            <a:ext cx="104238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4" name="PlaceHolder 7"/>
          <p:cNvSpPr>
            <a:spLocks noGrp="1"/>
          </p:cNvSpPr>
          <p:nvPr>
            <p:ph type="sldNum" idx="8"/>
          </p:nvPr>
        </p:nvSpPr>
        <p:spPr>
          <a:xfrm>
            <a:off x="235911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r" defTabSz="3135240">
              <a:lnSpc>
                <a:spcPct val="100000"/>
              </a:lnSpc>
              <a:buNone/>
              <a:tabLst>
                <a:tab pos="0" algn="l"/>
              </a:tabLst>
              <a:def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3135240">
              <a:lnSpc>
                <a:spcPct val="100000"/>
              </a:lnSpc>
              <a:buNone/>
              <a:tabLst>
                <a:tab pos="0" algn="l"/>
              </a:tabLst>
            </a:pPr>
            <a:fld id="{27210E5F-3091-440E-8A1F-096FE298DDE8}" type="slidenum">
              <a: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endParaRPr lang="en-US" sz="4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dt" idx="9"/>
          </p:nvPr>
        </p:nvSpPr>
        <p:spPr>
          <a:xfrm>
            <a:off x="16455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645560" y="2569320"/>
            <a:ext cx="29626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64556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9207000" y="512028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164556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9207000" y="8876520"/>
            <a:ext cx="7200720" cy="342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6" name="PlaceHolder 6"/>
          <p:cNvSpPr>
            <a:spLocks noGrp="1"/>
          </p:cNvSpPr>
          <p:nvPr>
            <p:ph type="ftr" idx="10"/>
          </p:nvPr>
        </p:nvSpPr>
        <p:spPr>
          <a:xfrm>
            <a:off x="11246760" y="19985400"/>
            <a:ext cx="104238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7" name="PlaceHolder 7"/>
          <p:cNvSpPr>
            <a:spLocks noGrp="1"/>
          </p:cNvSpPr>
          <p:nvPr>
            <p:ph type="sldNum" idx="11"/>
          </p:nvPr>
        </p:nvSpPr>
        <p:spPr>
          <a:xfrm>
            <a:off x="235911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 algn="r" defTabSz="3135240">
              <a:lnSpc>
                <a:spcPct val="100000"/>
              </a:lnSpc>
              <a:buNone/>
              <a:tabLst>
                <a:tab pos="0" algn="l"/>
              </a:tabLst>
              <a:def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3135240">
              <a:lnSpc>
                <a:spcPct val="100000"/>
              </a:lnSpc>
              <a:buNone/>
              <a:tabLst>
                <a:tab pos="0" algn="l"/>
              </a:tabLst>
            </a:pPr>
            <a:fld id="{19B2A442-0288-420B-9AD0-F1C7D106A8C9}" type="slidenum">
              <a:rPr lang="en-US" sz="4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endParaRPr lang="en-US" sz="4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8"/>
          <p:cNvSpPr>
            <a:spLocks noGrp="1"/>
          </p:cNvSpPr>
          <p:nvPr>
            <p:ph type="dt" idx="12"/>
          </p:nvPr>
        </p:nvSpPr>
        <p:spPr>
          <a:xfrm>
            <a:off x="1645560" y="19985400"/>
            <a:ext cx="7680600" cy="1523160"/>
          </a:xfrm>
          <a:prstGeom prst="rect">
            <a:avLst/>
          </a:prstGeom>
          <a:noFill/>
          <a:ln w="0">
            <a:noFill/>
          </a:ln>
        </p:spPr>
        <p:txBody>
          <a:bodyPr lIns="313560" tIns="156600" rIns="313560" bIns="156600" numCol="1" spcCol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C6E7FC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161"/>
          <p:cNvSpPr/>
          <p:nvPr/>
        </p:nvSpPr>
        <p:spPr>
          <a:xfrm>
            <a:off x="29889360" y="5682240"/>
            <a:ext cx="2285280" cy="46080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38160" rIns="76320" bIns="38160" anchor="t">
            <a:spAutoFit/>
          </a:bodyPr>
          <a:lstStyle/>
          <a:p>
            <a:pPr>
              <a:lnSpc>
                <a:spcPct val="100000"/>
              </a:lnSpc>
            </a:pPr>
            <a:endParaRPr lang="en-US" sz="2500" b="0" u="none" strike="noStrike">
              <a:solidFill>
                <a:schemeClr val="dk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" name="Rectangle 164"/>
          <p:cNvSpPr/>
          <p:nvPr/>
        </p:nvSpPr>
        <p:spPr>
          <a:xfrm>
            <a:off x="11531520" y="2895480"/>
            <a:ext cx="9600480" cy="913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 167"/>
          <p:cNvSpPr/>
          <p:nvPr/>
        </p:nvSpPr>
        <p:spPr>
          <a:xfrm>
            <a:off x="602280" y="2895480"/>
            <a:ext cx="9303120" cy="913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164"/>
          <p:cNvSpPr/>
          <p:nvPr/>
        </p:nvSpPr>
        <p:spPr>
          <a:xfrm>
            <a:off x="22504320" y="2895480"/>
            <a:ext cx="9651240" cy="9136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Box 2546"/>
          <p:cNvSpPr/>
          <p:nvPr/>
        </p:nvSpPr>
        <p:spPr>
          <a:xfrm>
            <a:off x="609480" y="4114800"/>
            <a:ext cx="9549720" cy="47685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38160" rIns="76320" bIns="38160" anchor="t">
            <a:spAutoFit/>
          </a:bodyPr>
          <a:lstStyle/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ectangle 8"/>
          <p:cNvSpPr/>
          <p:nvPr/>
        </p:nvSpPr>
        <p:spPr>
          <a:xfrm>
            <a:off x="491040" y="10198440"/>
            <a:ext cx="9956160" cy="47685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38160" rIns="76320" bIns="38160" anchor="t">
            <a:spAutoFit/>
          </a:bodyPr>
          <a:lstStyle/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28"/>
          <p:cNvSpPr/>
          <p:nvPr/>
        </p:nvSpPr>
        <p:spPr>
          <a:xfrm>
            <a:off x="11633040" y="4216320"/>
            <a:ext cx="9956160" cy="13071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38160" rIns="76320" bIns="38160" anchor="t">
            <a:spAutoFit/>
          </a:bodyPr>
          <a:lstStyle/>
          <a:p>
            <a:pPr>
              <a:lnSpc>
                <a:spcPct val="1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Rectangle 29"/>
          <p:cNvSpPr/>
          <p:nvPr/>
        </p:nvSpPr>
        <p:spPr>
          <a:xfrm>
            <a:off x="22781880" y="4140360"/>
            <a:ext cx="9956160" cy="510336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6320" tIns="38160" rIns="76320" bIns="38160" anchor="t">
            <a:spAutoFit/>
          </a:bodyPr>
          <a:lstStyle/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15"/>
          <p:cNvSpPr/>
          <p:nvPr/>
        </p:nvSpPr>
        <p:spPr>
          <a:xfrm>
            <a:off x="22681440" y="614160"/>
            <a:ext cx="4753080" cy="118728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2178" descr="model_comparison.png"/>
          <p:cNvPicPr/>
          <p:nvPr/>
        </p:nvPicPr>
        <p:blipFill>
          <a:blip r:embed="rId3"/>
          <a:stretch/>
        </p:blipFill>
        <p:spPr>
          <a:xfrm>
            <a:off x="11139360" y="16334338"/>
            <a:ext cx="10481769" cy="543156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126" descr="image.png"/>
          <p:cNvPicPr/>
          <p:nvPr/>
        </p:nvPicPr>
        <p:blipFill>
          <a:blip r:embed="rId4"/>
          <a:stretch/>
        </p:blipFill>
        <p:spPr>
          <a:xfrm>
            <a:off x="11139360" y="2027799"/>
            <a:ext cx="10418273" cy="664998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128" descr="per_game_pos_rate.png"/>
          <p:cNvPicPr/>
          <p:nvPr/>
        </p:nvPicPr>
        <p:blipFill>
          <a:blip r:embed="rId5"/>
          <a:stretch/>
        </p:blipFill>
        <p:spPr>
          <a:xfrm>
            <a:off x="11139360" y="8800242"/>
            <a:ext cx="10481769" cy="7493071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3" name="Table 134"/>
          <p:cNvGraphicFramePr/>
          <p:nvPr>
            <p:extLst>
              <p:ext uri="{D42A27DB-BD31-4B8C-83A1-F6EECF244321}">
                <p14:modId xmlns:p14="http://schemas.microsoft.com/office/powerpoint/2010/main" val="698953313"/>
              </p:ext>
            </p:extLst>
          </p:nvPr>
        </p:nvGraphicFramePr>
        <p:xfrm>
          <a:off x="22398649" y="9695941"/>
          <a:ext cx="9956160" cy="2961525"/>
        </p:xfrm>
        <a:graphic>
          <a:graphicData uri="http://schemas.openxmlformats.org/drawingml/2006/table">
            <a:tbl>
              <a:tblPr/>
              <a:tblGrid>
                <a:gridCol w="3212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5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5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5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5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2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Model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Accuracy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Macro F1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Not Rec F1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Rec F1</a:t>
                      </a:r>
                      <a:endParaRPr lang="en-US" sz="2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Naive Bayes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0.9548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0.8784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0.7819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0.9748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Logistic Reg.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0.9592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0.9123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0.8481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0.9765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SVM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0.9724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0.9385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0.8927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0.9842</a:t>
                      </a: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 dirty="0">
                          <a:solidFill>
                            <a:srgbClr val="1A6B1A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BERT (fine-tuned)</a:t>
                      </a:r>
                      <a:endParaRPr lang="en-US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 dirty="0">
                          <a:solidFill>
                            <a:srgbClr val="1A6B1A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0.9961</a:t>
                      </a:r>
                      <a:endParaRPr lang="en-US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 dirty="0">
                          <a:solidFill>
                            <a:srgbClr val="1A6B1A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0.9909</a:t>
                      </a:r>
                      <a:endParaRPr lang="en-US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 dirty="0">
                          <a:solidFill>
                            <a:srgbClr val="1A6B1A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0.9839</a:t>
                      </a:r>
                      <a:endParaRPr lang="en-US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200" b="1" u="none" strike="noStrike" dirty="0">
                          <a:solidFill>
                            <a:srgbClr val="1A6B1A"/>
                          </a:solidFill>
                          <a:effectLst/>
                          <a:uFillTx/>
                          <a:latin typeface="Abadi" panose="020B0604020104020204" pitchFamily="34" charset="0"/>
                        </a:rPr>
                        <a:t>0.9978</a:t>
                      </a:r>
                      <a:endParaRPr lang="en-US" sz="2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badi" panose="020B0604020104020204" pitchFamily="34" charset="0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Rectangle 135"/>
          <p:cNvSpPr/>
          <p:nvPr/>
        </p:nvSpPr>
        <p:spPr>
          <a:xfrm>
            <a:off x="22398648" y="13066217"/>
            <a:ext cx="3096857" cy="14685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127080" bIns="1015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 Macro F1</a:t>
            </a:r>
            <a:endParaRPr lang="en-US" sz="20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0.9909 vs SVM 0.9385</a:t>
            </a:r>
            <a:endParaRPr lang="en-US" sz="20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+5.2 points</a:t>
            </a:r>
            <a:endParaRPr lang="en-US" sz="20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95" name="Rectangle 136"/>
          <p:cNvSpPr/>
          <p:nvPr/>
        </p:nvSpPr>
        <p:spPr>
          <a:xfrm>
            <a:off x="25784539" y="13066217"/>
            <a:ext cx="2936297" cy="146854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127080" bIns="1015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1B2A4A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Not Rec F1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333333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0.9839 vs SVM 0.8927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333333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+9.1 pts minority class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96" name="Rectangle 137"/>
          <p:cNvSpPr/>
          <p:nvPr/>
        </p:nvSpPr>
        <p:spPr>
          <a:xfrm>
            <a:off x="29009871" y="13066217"/>
            <a:ext cx="3306250" cy="142507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tIns="101520" rIns="127080" bIns="1015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1B2A4A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Accuracy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333333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 99.6%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0" u="none" strike="noStrike" dirty="0">
                <a:solidFill>
                  <a:srgbClr val="333333"/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vs SVM 97.2%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98" name="Rectangle 2"/>
          <p:cNvSpPr/>
          <p:nvPr/>
        </p:nvSpPr>
        <p:spPr>
          <a:xfrm>
            <a:off x="404281" y="8472420"/>
            <a:ext cx="9835559" cy="913680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u="none" strike="noStrike" dirty="0">
                <a:solidFill>
                  <a:srgbClr val="CCCCCC"/>
                </a:solidFill>
                <a:effectLst/>
                <a:uFillTx/>
                <a:latin typeface="Arial"/>
              </a:rPr>
              <a:t>Dataset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3"/>
          <p:cNvSpPr/>
          <p:nvPr/>
        </p:nvSpPr>
        <p:spPr>
          <a:xfrm>
            <a:off x="491040" y="2017230"/>
            <a:ext cx="9668160" cy="977635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u="none" strike="noStrike" dirty="0">
                <a:solidFill>
                  <a:srgbClr val="CCCCCC"/>
                </a:solidFill>
                <a:effectLst/>
                <a:uFillTx/>
                <a:latin typeface="Arial"/>
              </a:rPr>
              <a:t>Task Statement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-152400" y="-53820"/>
            <a:ext cx="33070080" cy="1789740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defTabSz="3135240">
              <a:lnSpc>
                <a:spcPct val="100000"/>
              </a:lnSpc>
            </a:pPr>
            <a:r>
              <a:rPr lang="en-US" sz="5000" b="1" dirty="0">
                <a:solidFill>
                  <a:srgbClr val="CCCCCC"/>
                </a:solidFill>
              </a:rPr>
              <a:t>   Sentiment Classification of Steam Game Reviews: Comparing Models</a:t>
            </a:r>
            <a:endParaRPr lang="en-US" sz="5000" b="0" u="none" strike="noStrike" dirty="0">
              <a:solidFill>
                <a:srgbClr val="CCCCCC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F8DD16E-9FF1-584E-2898-C4839C4149F9}"/>
              </a:ext>
            </a:extLst>
          </p:cNvPr>
          <p:cNvSpPr/>
          <p:nvPr/>
        </p:nvSpPr>
        <p:spPr>
          <a:xfrm>
            <a:off x="22398651" y="2027799"/>
            <a:ext cx="9956159" cy="946856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u="none" strike="noStrike" dirty="0">
                <a:solidFill>
                  <a:srgbClr val="CCCCCC"/>
                </a:solidFill>
                <a:effectLst/>
                <a:uFillTx/>
                <a:latin typeface="Arial"/>
              </a:rPr>
              <a:t>Methods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A83829F-3C5C-450E-2A1C-DEA98194813D}"/>
              </a:ext>
            </a:extLst>
          </p:cNvPr>
          <p:cNvSpPr/>
          <p:nvPr/>
        </p:nvSpPr>
        <p:spPr>
          <a:xfrm>
            <a:off x="22398651" y="8472240"/>
            <a:ext cx="9956159" cy="914040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u="none" strike="noStrike" dirty="0">
                <a:solidFill>
                  <a:srgbClr val="CCCCCC"/>
                </a:solidFill>
                <a:effectLst/>
                <a:uFillTx/>
                <a:latin typeface="Arial"/>
              </a:rPr>
              <a:t>Results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F6B34-7F78-F2D7-82A9-B4ABA7B67191}"/>
              </a:ext>
            </a:extLst>
          </p:cNvPr>
          <p:cNvSpPr/>
          <p:nvPr/>
        </p:nvSpPr>
        <p:spPr>
          <a:xfrm>
            <a:off x="22398651" y="14986979"/>
            <a:ext cx="9956159" cy="914040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u="none" strike="noStrike" dirty="0">
                <a:solidFill>
                  <a:srgbClr val="CCCCCC"/>
                </a:solidFill>
                <a:effectLst/>
                <a:uFillTx/>
                <a:latin typeface="Arial"/>
              </a:rPr>
              <a:t>Conclusion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2"/>
          <p:cNvPicPr/>
          <p:nvPr/>
        </p:nvPicPr>
        <p:blipFill>
          <a:blip r:embed="rId6"/>
          <a:stretch/>
        </p:blipFill>
        <p:spPr>
          <a:xfrm>
            <a:off x="27548809" y="284342"/>
            <a:ext cx="4703040" cy="125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948F70-3206-2FA8-BDD8-97066935169D}"/>
              </a:ext>
            </a:extLst>
          </p:cNvPr>
          <p:cNvSpPr txBox="1"/>
          <p:nvPr/>
        </p:nvSpPr>
        <p:spPr>
          <a:xfrm>
            <a:off x="404281" y="9586957"/>
            <a:ext cx="983555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• 555,498 reviews self-scraped via Steam public API 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• 37 games: AAA, indie, strategy, horror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• Included mixed-reception titles (</a:t>
            </a:r>
            <a:r>
              <a:rPr lang="en-US" sz="220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Redfall</a:t>
            </a: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, Saints Row 2022) to reduce positivity bias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 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87.9% Recommended  vs  12.1% Not Recommended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A model always predicting Recommended scores 87.9% accuracy: macro F1 is the only meaningful metric.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 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Median review: 9 words  |  ~200K reviews under 5 words  |  max 1,995 words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 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Stratified 80 / 10 / 10 split: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F0502020204030204" pitchFamily="34" charset="0"/>
                <a:ea typeface="DejaVu Sans"/>
              </a:rPr>
              <a:t>443,983 train     55,498 dev     55,498 test</a:t>
            </a:r>
            <a:endParaRPr lang="en-US" sz="220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72990-84DC-3706-7FBD-F026C4406C25}"/>
              </a:ext>
            </a:extLst>
          </p:cNvPr>
          <p:cNvSpPr txBox="1"/>
          <p:nvPr/>
        </p:nvSpPr>
        <p:spPr>
          <a:xfrm>
            <a:off x="491041" y="3226860"/>
            <a:ext cx="97488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i="1" dirty="0">
                <a:latin typeface="Abadi" panose="020B0604020104020204" pitchFamily="34" charset="0"/>
              </a:rPr>
              <a:t>Why Steam Reviews?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Abadi" panose="020B0604020104020204" pitchFamily="34" charset="0"/>
              </a:rPr>
              <a:t>Steam hosts hundreds of millions of reviews written in informal language, gaming slang, humor, and irony, making sentiment harder than standard benchmarks like IMDB.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Abadi" panose="020B0604020104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2800" b="1" i="1" dirty="0">
                <a:latin typeface="Abadi" panose="020B0604020104020204" pitchFamily="34" charset="0"/>
              </a:rPr>
              <a:t>Task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Abadi" panose="020B0604020104020204" pitchFamily="34" charset="0"/>
              </a:rPr>
              <a:t>Input: raw Steam review text</a:t>
            </a:r>
          </a:p>
          <a:p>
            <a:pPr>
              <a:lnSpc>
                <a:spcPct val="100000"/>
              </a:lnSpc>
            </a:pPr>
            <a:r>
              <a:rPr lang="en-US" sz="2200" dirty="0">
                <a:latin typeface="Abadi" panose="020B0604020104020204" pitchFamily="34" charset="0"/>
              </a:rPr>
              <a:t>Output: Recommended  /  Not Recommended  </a:t>
            </a:r>
          </a:p>
          <a:p>
            <a:pPr>
              <a:lnSpc>
                <a:spcPct val="100000"/>
              </a:lnSpc>
            </a:pPr>
            <a:endParaRPr lang="en-US" sz="2800" b="1" i="1" dirty="0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800" b="1" i="1" dirty="0">
                <a:latin typeface="Abadi" panose="020B0604020104020204" pitchFamily="34" charset="0"/>
              </a:rPr>
              <a:t>Research Questions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>
                <a:latin typeface="Abadi" panose="020B0604020104020204" pitchFamily="34" charset="0"/>
              </a:rPr>
              <a:t>Do classical models compete with BERT in this domain?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>
                <a:latin typeface="Abadi" panose="020B0604020104020204" pitchFamily="34" charset="0"/>
              </a:rPr>
              <a:t>How does 87.9% class imbalance affect minority-class F1?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200" dirty="0">
                <a:latin typeface="Abadi" panose="020B0604020104020204" pitchFamily="34" charset="0"/>
              </a:rPr>
              <a:t>Does extreme length variability (median 9 words) affect models differently?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81D1E-ADB8-8A10-5FCA-93172B999E59}"/>
              </a:ext>
            </a:extLst>
          </p:cNvPr>
          <p:cNvSpPr txBox="1"/>
          <p:nvPr/>
        </p:nvSpPr>
        <p:spPr>
          <a:xfrm>
            <a:off x="22398651" y="16170858"/>
            <a:ext cx="991746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SVM is a strong classical baseline, hard to beat without pretraining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BERT outperforms SVM by +5.2 macro F1, significant on a hard, imbalanced task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The gap is largest on the minority class: Not Rec F1  0.9839 vs 0.8927 (+9.1 pts)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Short reviews and sarcasm are the primary sources of misclassification across all models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Class imbalance handling (weighted loss / balanced weights) is essential for all approaches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Future Work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Length aware embeddings or separate handling for very short reviews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Sarcasm / irony detection as a preprocessing step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• Test generalizability on 106K-review Kaggle dataset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97ACAD-8730-A44C-29C0-EA8B290317F5}"/>
              </a:ext>
            </a:extLst>
          </p:cNvPr>
          <p:cNvSpPr txBox="1"/>
          <p:nvPr/>
        </p:nvSpPr>
        <p:spPr>
          <a:xfrm>
            <a:off x="22398651" y="3233719"/>
            <a:ext cx="991746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Pipeline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Raw Text  -&gt;  TF-IDF (50K features,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unigrams+bigrams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)  -&gt;  NB / LR / SVM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Raw Text  -&gt;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WordPiece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tokenizer (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-base-uncased)  -&gt;  BERT fine-tune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Model Details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Naive Bayes       Multinomial NB, Laplace a=1.0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Logistic Reg.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  <a:ea typeface="DejaVu Sans"/>
              </a:rPr>
              <a:t>      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L2, C=1.0,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class_weight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='balanced'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SVM: </a:t>
            </a: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  <a:ea typeface="DejaVu Sans"/>
              </a:rPr>
              <a:t>	    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LinearSVC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, C=1.0,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class_weight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='balanced'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BERT: 	    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-base-uncased,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max_length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=256, 3 epochs</a:t>
            </a: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Abadi" panose="020B0604020104020204" pitchFamily="34" charset="0"/>
            </a:endParaRPr>
          </a:p>
          <a:p>
            <a:pPr lvl="1"/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                   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AdamW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lr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=2e-5, fp16 mixed precision, RTX 4080 Super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 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Handling Class Imbalance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Classical:    </a:t>
            </a:r>
            <a:r>
              <a:rPr lang="en-US" sz="2200" b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class_weight</a:t>
            </a: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='balanced' on LR and SVM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BERT:         weighted cross-entropy  [4.12x Not Rec  /  0.57x Rec]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Evaluation:  macro F1, weights both classes equally</a:t>
            </a:r>
            <a:endParaRPr lang="en-US" sz="2200" b="0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1FFB1A1A-F34F-CB15-4CCA-040EAF6C36DE}"/>
              </a:ext>
            </a:extLst>
          </p:cNvPr>
          <p:cNvSpPr/>
          <p:nvPr/>
        </p:nvSpPr>
        <p:spPr>
          <a:xfrm>
            <a:off x="320040" y="14491295"/>
            <a:ext cx="9919800" cy="913680"/>
          </a:xfrm>
          <a:prstGeom prst="rect">
            <a:avLst/>
          </a:prstGeom>
          <a:gradFill rotWithShape="0">
            <a:gsLst>
              <a:gs pos="0">
                <a:srgbClr val="031F43"/>
              </a:gs>
              <a:gs pos="50000">
                <a:srgbClr val="052E65"/>
              </a:gs>
              <a:gs pos="100000">
                <a:srgbClr val="031F43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14120" tIns="57240" rIns="114120" bIns="57240" anchor="ctr">
            <a:noAutofit/>
          </a:bodyPr>
          <a:lstStyle/>
          <a:p>
            <a:pPr algn="ctr" defTabSz="3135240">
              <a:lnSpc>
                <a:spcPct val="100000"/>
              </a:lnSpc>
            </a:pPr>
            <a:r>
              <a:rPr lang="en-US" sz="5000" b="1" dirty="0">
                <a:solidFill>
                  <a:srgbClr val="CCCCCC"/>
                </a:solidFill>
                <a:latin typeface="Arial"/>
              </a:rPr>
              <a:t>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9CFA06-06B1-34DB-6062-89491261B194}"/>
              </a:ext>
            </a:extLst>
          </p:cNvPr>
          <p:cNvSpPr txBox="1"/>
          <p:nvPr/>
        </p:nvSpPr>
        <p:spPr>
          <a:xfrm>
            <a:off x="320040" y="15764833"/>
            <a:ext cx="1019638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Problem 1: Review Length</a:t>
            </a:r>
          </a:p>
          <a:p>
            <a:pPr algn="ctr">
              <a:lnSpc>
                <a:spcPct val="100000"/>
              </a:lnSpc>
            </a:pPr>
            <a:r>
              <a:rPr lang="en-US" sz="220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~200K reviews under 5 words, almost no signal for any model</a:t>
            </a:r>
          </a:p>
          <a:p>
            <a:pPr algn="ctr">
              <a:lnSpc>
                <a:spcPct val="100000"/>
              </a:lnSpc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TF-IDF sees 'no' in both positive and negative reviews. It can't distinguish sentiment. BERT's attention has nothing to attend to. These one-word reviews are the #1 source of errors across all models.</a:t>
            </a:r>
          </a:p>
          <a:p>
            <a:pPr algn="ctr">
              <a:lnSpc>
                <a:spcPct val="100000"/>
              </a:lnSpc>
            </a:pPr>
            <a:endParaRPr lang="en-US" sz="2200" b="1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2B6C3-DDFD-DFDE-68E8-385DA865A074}"/>
              </a:ext>
            </a:extLst>
          </p:cNvPr>
          <p:cNvSpPr txBox="1"/>
          <p:nvPr/>
        </p:nvSpPr>
        <p:spPr>
          <a:xfrm>
            <a:off x="320040" y="18618029"/>
            <a:ext cx="1019638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200" b="1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badi" panose="020B0604020104020204" pitchFamily="34" charset="0"/>
                <a:ea typeface="DejaVu Sans"/>
              </a:rPr>
              <a:t>Problem 2: Handle Sarcasm</a:t>
            </a:r>
          </a:p>
          <a:p>
            <a:pPr algn="ctr">
              <a:lnSpc>
                <a:spcPct val="100000"/>
              </a:lnSpc>
            </a:pPr>
            <a:r>
              <a:rPr lang="en-US" sz="2200" dirty="0">
                <a:latin typeface="Abadi" panose="020B0604020104020204" pitchFamily="34" charset="0"/>
              </a:rPr>
              <a:t>Sarcastic reviews create a mismatch between text and label, establishing noise ceiling that no model can overcome</a:t>
            </a:r>
            <a:br>
              <a:rPr lang="en-US" sz="2200" dirty="0">
                <a:latin typeface="Abadi" panose="020B0604020104020204" pitchFamily="34" charset="0"/>
              </a:rPr>
            </a:b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The </a:t>
            </a:r>
            <a:r>
              <a:rPr lang="en-US" sz="2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voted_up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badi" panose="020B0604020104020204" pitchFamily="34" charset="0"/>
              </a:rPr>
              <a:t> label captures user intent at the time of clicking, not the sentiment of the written text. Since no model can reconcile a label that contradicts its review, this introduces an irreducible ceiling on performance.</a:t>
            </a:r>
          </a:p>
          <a:p>
            <a:pPr>
              <a:lnSpc>
                <a:spcPct val="100000"/>
              </a:lnSpc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Abadi" panose="020B0604020104020204" pitchFamily="34" charset="0"/>
            </a:endParaRPr>
          </a:p>
          <a:p>
            <a:pPr algn="ctr">
              <a:lnSpc>
                <a:spcPct val="100000"/>
              </a:lnSpc>
            </a:pPr>
            <a:endParaRPr lang="en-US" sz="2200" b="1" u="none" strike="noStrike" dirty="0">
              <a:solidFill>
                <a:schemeClr val="tx1">
                  <a:lumMod val="85000"/>
                  <a:lumOff val="15000"/>
                </a:schemeClr>
              </a:solidFill>
              <a:effectLst/>
              <a:uFillTx/>
              <a:latin typeface="Abadi" panose="020B06040201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81CA6B-EA88-6212-F859-D14BB0590684}"/>
              </a:ext>
            </a:extLst>
          </p:cNvPr>
          <p:cNvSpPr txBox="1"/>
          <p:nvPr/>
        </p:nvSpPr>
        <p:spPr>
          <a:xfrm>
            <a:off x="21899881" y="20945285"/>
            <a:ext cx="108381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600" dirty="0">
                <a:latin typeface="Abadi" panose="020B0604020104020204" pitchFamily="34" charset="0"/>
              </a:rPr>
              <a:t>Michael Vinciguerra</a:t>
            </a:r>
          </a:p>
          <a:p>
            <a:pPr algn="r"/>
            <a:r>
              <a:rPr lang="en-US" sz="2600" dirty="0">
                <a:latin typeface="Abadi" panose="020B0604020104020204" pitchFamily="34" charset="0"/>
              </a:rPr>
              <a:t>mjv1044@usnh.edu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A84C42-4326-4965-0E79-08DB64E81126}"/>
              </a:ext>
            </a:extLst>
          </p:cNvPr>
          <p:cNvSpPr txBox="1"/>
          <p:nvPr/>
        </p:nvSpPr>
        <p:spPr>
          <a:xfrm>
            <a:off x="22681440" y="-7660"/>
            <a:ext cx="54423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dirty="0">
                <a:solidFill>
                  <a:srgbClr val="CCCCCC"/>
                </a:solidFill>
                <a:latin typeface="Abadi" panose="020B0604020104020204" pitchFamily="34" charset="0"/>
              </a:rPr>
              <a:t>CS 759</a:t>
            </a:r>
          </a:p>
          <a:p>
            <a:pPr algn="ctr"/>
            <a:r>
              <a:rPr lang="en-US" sz="3400" dirty="0">
                <a:solidFill>
                  <a:srgbClr val="CCCCCC"/>
                </a:solidFill>
                <a:latin typeface="Abadi" panose="020B0604020104020204" pitchFamily="34" charset="0"/>
              </a:rPr>
              <a:t>Natural Language Processing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Waveform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Waveform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Waveform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efault Design">
  <a:themeElements>
    <a:clrScheme name="Waveform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6950</TotalTime>
  <Words>639</Words>
  <Application>Microsoft Office PowerPoint</Application>
  <PresentationFormat>Custom</PresentationFormat>
  <Paragraphs>132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Abadi</vt:lpstr>
      <vt:lpstr>Aptos</vt:lpstr>
      <vt:lpstr>Arial</vt:lpstr>
      <vt:lpstr>Symbol</vt:lpstr>
      <vt:lpstr>Times New Roman</vt:lpstr>
      <vt:lpstr>Wingdings</vt:lpstr>
      <vt:lpstr>Default Design</vt:lpstr>
      <vt:lpstr>Default Design</vt:lpstr>
      <vt:lpstr>Default Design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 research template custom poster presentation symposium printing PowerPoint create design example sample download</cp:keywords>
  <dc:description>These templates are offered for free to help your create a poster ranging from nursing research posters to psychology research posters.</dc:description>
  <cp:lastModifiedBy>Michael Vinciguerra</cp:lastModifiedBy>
  <cp:revision>302</cp:revision>
  <cp:lastPrinted>2014-02-24T14:53:09Z</cp:lastPrinted>
  <dcterms:created xsi:type="dcterms:W3CDTF">2004-07-26T21:45:23Z</dcterms:created>
  <dcterms:modified xsi:type="dcterms:W3CDTF">2026-04-20T02:26:21Z</dcterms:modified>
  <cp:category>science research poster</cp:category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r8>1</vt:r8>
  </property>
</Properties>
</file>